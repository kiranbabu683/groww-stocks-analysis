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83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AND DATA ANALYTICS 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2128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658 Indian listed companies tell us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164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from groww.in, cleaned in Python, analysed and shown in an Excel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Innomatics Research Labs | Random sample of 800 of 5,987 listed instruments | One-day snapshot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web page to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3801745"/>
            <a:ext cx="2501900" cy="2037080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4032250"/>
            <a:ext cx="210211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Scrape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4408170"/>
            <a:ext cx="2102117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stock pages with requests, BeautifulSoup and regex; industry read from hidden page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2025" y="3801745"/>
            <a:ext cx="2501900" cy="2037080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2530" y="4032250"/>
            <a:ext cx="210211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Clean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2530" y="4408170"/>
            <a:ext cx="2102117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108 fake 52-week values; separated 57 ETFs and 85 inactive stocks; kept 658 companies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8075" y="3801745"/>
            <a:ext cx="2501900" cy="2037080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8580" y="4032250"/>
            <a:ext cx="210211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Analyse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8580" y="4408170"/>
            <a:ext cx="2102117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industry, valuation, ownership and momentum, with 13 new columns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74125" y="3801745"/>
            <a:ext cx="2501900" cy="2037080"/>
          </a:xfrm>
          <a:prstGeom prst="roundRect">
            <a:avLst>
              <a:gd name="adj" fmla="val 4832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4630" y="4032250"/>
            <a:ext cx="210211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04630" y="4408170"/>
            <a:ext cx="2102117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dashboard with 8 charts, 8 KPIs and two filters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set: actively traded equities with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large companies hold almost all the value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2065020"/>
            <a:ext cx="177800" cy="1778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038350"/>
            <a:ext cx="14096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companies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95471" y="2065020"/>
            <a:ext cx="177800" cy="177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2749471" y="2038350"/>
            <a:ext cx="186099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total market 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208020"/>
            <a:ext cx="1320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35200" y="3092450"/>
            <a:ext cx="3790950" cy="2159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/>
          <p:nvPr/>
        </p:nvSpPr>
        <p:spPr>
          <a:xfrm>
            <a:off x="6115050" y="3075941"/>
            <a:ext cx="605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66.3%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35200" y="3392170"/>
            <a:ext cx="50800" cy="2159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374900" y="3375661"/>
            <a:ext cx="4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947161"/>
            <a:ext cx="1320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35200" y="3831591"/>
            <a:ext cx="1181100" cy="2159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505200" y="3815080"/>
            <a:ext cx="605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35200" y="4131311"/>
            <a:ext cx="298450" cy="2159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2622550" y="4114800"/>
            <a:ext cx="4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686300"/>
            <a:ext cx="1320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35200" y="4570730"/>
            <a:ext cx="381000" cy="2159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2705100" y="4554220"/>
            <a:ext cx="4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35200" y="4870450"/>
            <a:ext cx="558800" cy="2159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2882900" y="4853941"/>
            <a:ext cx="4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5425441"/>
            <a:ext cx="1320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35200" y="5309870"/>
            <a:ext cx="368300" cy="2159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2692400" y="5293361"/>
            <a:ext cx="4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35200" y="5609591"/>
            <a:ext cx="4806950" cy="2159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1050" y="5593080"/>
            <a:ext cx="605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84.1%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under ₹500 Cr, Small to ₹5,000 Cr, Mid to ₹20,000 Cr, Large above. Top 10 companies hold 55% of value.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companies are more profitable and better covered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74851"/>
          <a:ext cx="10556240" cy="262001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Profitable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dividends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ROE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holding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327650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holds 48% of micro caps but only 15% of large caps. Market cap and institutional holding move together (correlation about 0.7).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groww.in scrape, 658 analysis-ready companies. ROE = return on equity.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sits in small names, and most stocks sit far below their highs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2522857"/>
            <a:ext cx="3386614" cy="1932940"/>
          </a:xfrm>
          <a:prstGeom prst="roundRect">
            <a:avLst>
              <a:gd name="adj" fmla="val 5256"/>
            </a:avLst>
          </a:prstGeom>
          <a:solidFill>
            <a:srgbClr val="2E4F7A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776857"/>
            <a:ext cx="296497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3706496"/>
            <a:ext cx="296497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market value is in Information Technology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14" y="2522857"/>
            <a:ext cx="3386693" cy="1932940"/>
          </a:xfrm>
          <a:prstGeom prst="roundRect">
            <a:avLst>
              <a:gd name="adj" fmla="val 5256"/>
            </a:avLst>
          </a:prstGeom>
          <a:solidFill>
            <a:srgbClr val="2E4F7A"/>
          </a:solidFill>
          <a:ln/>
        </p:spPr>
      </p:sp>
      <p:sp>
        <p:nvSpPr>
          <p:cNvPr id="7" name="Text 5"/>
          <p:cNvSpPr/>
          <p:nvPr/>
        </p:nvSpPr>
        <p:spPr>
          <a:xfrm>
            <a:off x="4656614" y="2776857"/>
            <a:ext cx="296505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656614" y="3706496"/>
            <a:ext cx="29650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stocks are more than 30% below their 52-week high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507" y="2522857"/>
            <a:ext cx="3386693" cy="1932940"/>
          </a:xfrm>
          <a:prstGeom prst="roundRect">
            <a:avLst>
              <a:gd name="adj" fmla="val 5256"/>
            </a:avLst>
          </a:prstGeom>
          <a:solidFill>
            <a:srgbClr val="2E4F7A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07" y="2776857"/>
            <a:ext cx="296505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46507" y="3706496"/>
            <a:ext cx="296505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165 loss-making companies are micro caps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5327650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 industries versus their highs: Power (median -52%), Media (-46%), Healthcare (-42%). Only 33% of media companies are profitable.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groww.in scrape, 658 analysis-ready companies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with these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3310257"/>
            <a:ext cx="5175250" cy="252857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3566161"/>
            <a:ext cx="480334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investors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55700" y="3982721"/>
            <a:ext cx="4711903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core holdings in mid and large caps; limit micro caps to a small, diversified share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low P/E only as a starting point, then check profit, debt and ROE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institutional holding and listing as a quick sign of coverage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3310257"/>
            <a:ext cx="5175250" cy="252857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6350">
            <a:solidFill>
              <a:srgbClr val="D5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3566161"/>
            <a:ext cx="480334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platform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40500" y="3982721"/>
            <a:ext cx="4711903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risk badges: loss-making, high debt, no institutional holding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built-in quality screener (31 companies passed ours)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micro-cap risk and P/E versus industry P/E in plain language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project. Not investment advice.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and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4358639"/>
            <a:ext cx="528472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96620" y="4775200"/>
            <a:ext cx="519328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snapshot, no price history or returns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sample: 800 of 5,987 instruments (13%)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Micro-cap ratios such as P/E and ROE can be extreme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NSE symbol" assumed to mean mostly BSE-only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48400" y="4358639"/>
            <a:ext cx="528472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32220" y="4775200"/>
            <a:ext cx="51932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all 5,987 instruments, daily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price history to measure returns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6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live screener on top of the cleaned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scraper, cleaning notebook, data dictionary, EDA notebook, Excel dashboard, this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ww Stocks Analysis: What 658 Listed Companies Tell Us">
  <a:themeElements>
    <a:clrScheme name="Groww Stocks Analysis: What 658 Listed Companies Tell Us">
      <a:dk1>
        <a:srgbClr val="1A2433"/>
      </a:dk1>
      <a:lt1>
        <a:srgbClr val="F6F7F9"/>
      </a:lt1>
      <a:dk2>
        <a:srgbClr val="515965"/>
      </a:dk2>
      <a:lt2>
        <a:srgbClr val="E0E2E5"/>
      </a:lt2>
      <a:accent1>
        <a:srgbClr val="1F3A5F"/>
      </a:accent1>
      <a:accent2>
        <a:srgbClr val="E9A23B"/>
      </a:accent2>
      <a:accent3>
        <a:srgbClr val="2A9D8F"/>
      </a:accent3>
      <a:accent4>
        <a:srgbClr val="2E4F7A"/>
      </a:accent4>
      <a:accent5>
        <a:srgbClr val="C9D3E0"/>
      </a:accent5>
      <a:accent6>
        <a:srgbClr val="5B6675"/>
      </a:accent6>
      <a:hlink>
        <a:srgbClr val="0563C1"/>
      </a:hlink>
      <a:folHlink>
        <a:srgbClr val="954F72"/>
      </a:folHlink>
    </a:clrScheme>
    <a:fontScheme name="Groww Stocks Analysis: What 658 Listed Companies Tell U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Groww Stocks Analysis: What 658 Listed Companies Tell Us</dc:title>
  <dc:subject/>
  <dc:creator/>
  <cp:lastModifiedBy/>
  <cp:revision>1</cp:revision>
  <dcterms:created xsi:type="dcterms:W3CDTF">2026-10-23T06:33:09Z</dcterms:created>
  <dcterms:modified xsi:type="dcterms:W3CDTF">2026-10-23T06:33:09Z</dcterms:modified>
</cp:coreProperties>
</file>